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80" r:id="rId5"/>
    <p:sldId id="259" r:id="rId6"/>
    <p:sldId id="279" r:id="rId7"/>
    <p:sldId id="28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2" r:id="rId21"/>
    <p:sldId id="272" r:id="rId22"/>
    <p:sldId id="275" r:id="rId23"/>
    <p:sldId id="276" r:id="rId24"/>
    <p:sldId id="27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Riders</c:v>
                </c:pt>
              </c:strCache>
            </c:strRef>
          </c:tx>
          <c:spPr>
            <a:solidFill>
              <a:srgbClr val="1A5C9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59-4941-BE50-724AC7968BF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A59-4941-BE50-724AC7968BF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A59-4941-BE50-724AC7968BF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A59-4941-BE50-724AC7968BF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A59-4941-BE50-724AC7968BF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A59-4941-BE50-724AC7968BF2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A59-4941-BE50-724AC7968BF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2A59-4941-BE50-724AC7968BF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A59-4941-BE50-724AC7968BF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2A59-4941-BE50-724AC7968BF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2A59-4941-BE50-724AC7968BF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2A59-4941-BE50-724AC7968BF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2A59-4941-BE50-724AC7968BF2}"/>
              </c:ext>
            </c:extLst>
          </c:dPt>
          <c:dPt>
            <c:idx val="13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2A59-4941-BE50-724AC7968BF2}"/>
              </c:ext>
            </c:extLst>
          </c:dPt>
          <c:cat>
            <c:strRef>
              <c:f>Sheet1!$A$2:$A$15</c:f>
              <c:strCache>
                <c:ptCount val="14"/>
                <c:pt idx="0">
                  <c:v>FY11-12</c:v>
                </c:pt>
                <c:pt idx="1">
                  <c:v>FY13-14</c:v>
                </c:pt>
                <c:pt idx="2">
                  <c:v>FY14-15</c:v>
                </c:pt>
                <c:pt idx="3">
                  <c:v>FY15-16</c:v>
                </c:pt>
                <c:pt idx="4">
                  <c:v>FY16-17</c:v>
                </c:pt>
                <c:pt idx="5">
                  <c:v>FY17-18</c:v>
                </c:pt>
                <c:pt idx="6">
                  <c:v>FY18-19</c:v>
                </c:pt>
                <c:pt idx="7">
                  <c:v>FY19-20</c:v>
                </c:pt>
                <c:pt idx="8">
                  <c:v>FY20-21</c:v>
                </c:pt>
                <c:pt idx="9">
                  <c:v>FY21-22</c:v>
                </c:pt>
                <c:pt idx="10">
                  <c:v>FY22-23</c:v>
                </c:pt>
                <c:pt idx="11">
                  <c:v>FY23-24</c:v>
                </c:pt>
                <c:pt idx="12">
                  <c:v>FY24-25</c:v>
                </c:pt>
                <c:pt idx="13">
                  <c:v>FY25-26*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20071</c:v>
                </c:pt>
                <c:pt idx="1">
                  <c:v>17302</c:v>
                </c:pt>
                <c:pt idx="2">
                  <c:v>17992</c:v>
                </c:pt>
                <c:pt idx="3">
                  <c:v>18710</c:v>
                </c:pt>
                <c:pt idx="4">
                  <c:v>22128</c:v>
                </c:pt>
                <c:pt idx="5">
                  <c:v>27054</c:v>
                </c:pt>
                <c:pt idx="6">
                  <c:v>24244</c:v>
                </c:pt>
                <c:pt idx="7">
                  <c:v>21756</c:v>
                </c:pt>
                <c:pt idx="8">
                  <c:v>32992</c:v>
                </c:pt>
                <c:pt idx="9">
                  <c:v>29824</c:v>
                </c:pt>
                <c:pt idx="10">
                  <c:v>29166</c:v>
                </c:pt>
                <c:pt idx="11">
                  <c:v>30753</c:v>
                </c:pt>
                <c:pt idx="12">
                  <c:v>31306</c:v>
                </c:pt>
                <c:pt idx="13">
                  <c:v>37173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2A59-4941-BE50-724AC7968B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FY25-26</c:v>
                </c:pt>
              </c:strCache>
            </c:strRef>
          </c:tx>
          <c:spPr>
            <a:solidFill>
              <a:srgbClr val="1A5C9C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  <c:pt idx="7">
                  <c:v>Mar</c:v>
                </c:pt>
                <c:pt idx="8">
                  <c:v>Apr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976</c:v>
                </c:pt>
                <c:pt idx="1">
                  <c:v>5196</c:v>
                </c:pt>
                <c:pt idx="2">
                  <c:v>5212</c:v>
                </c:pt>
                <c:pt idx="3">
                  <c:v>4001</c:v>
                </c:pt>
                <c:pt idx="4">
                  <c:v>1874</c:v>
                </c:pt>
                <c:pt idx="5">
                  <c:v>3598</c:v>
                </c:pt>
                <c:pt idx="6">
                  <c:v>6501</c:v>
                </c:pt>
                <c:pt idx="7">
                  <c:v>4875</c:v>
                </c:pt>
                <c:pt idx="8">
                  <c:v>4884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0F-4A70-8449-D9E8D4B08D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FY24-25</c:v>
                </c:pt>
              </c:strCache>
            </c:strRef>
          </c:tx>
          <c:spPr>
            <a:solidFill>
              <a:srgbClr val="A8C4E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  <c:pt idx="7">
                  <c:v>Mar</c:v>
                </c:pt>
                <c:pt idx="8">
                  <c:v>Apr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1067</c:v>
                </c:pt>
                <c:pt idx="1">
                  <c:v>4663</c:v>
                </c:pt>
                <c:pt idx="2">
                  <c:v>4586</c:v>
                </c:pt>
                <c:pt idx="3">
                  <c:v>3579</c:v>
                </c:pt>
                <c:pt idx="4">
                  <c:v>2186</c:v>
                </c:pt>
                <c:pt idx="5">
                  <c:v>2974</c:v>
                </c:pt>
                <c:pt idx="6">
                  <c:v>3997</c:v>
                </c:pt>
                <c:pt idx="7">
                  <c:v>3372</c:v>
                </c:pt>
                <c:pt idx="8">
                  <c:v>4534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0F-4A70-8449-D9E8D4B08D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Ram Force One AM</c:v>
                </c:pt>
              </c:strCache>
            </c:strRef>
          </c:tx>
          <c:spPr>
            <a:solidFill>
              <a:srgbClr val="1A5C9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678</c:v>
                </c:pt>
                <c:pt idx="1">
                  <c:v>2495</c:v>
                </c:pt>
                <c:pt idx="2">
                  <c:v>2627</c:v>
                </c:pt>
                <c:pt idx="3">
                  <c:v>2207</c:v>
                </c:pt>
                <c:pt idx="4">
                  <c:v>1320</c:v>
                </c:pt>
                <c:pt idx="5">
                  <c:v>2360</c:v>
                </c:pt>
                <c:pt idx="6">
                  <c:v>3302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AB-4A99-B0FD-1A4D0E4913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Ram Express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376</c:v>
                </c:pt>
                <c:pt idx="1">
                  <c:v>1254</c:v>
                </c:pt>
                <c:pt idx="2">
                  <c:v>1259</c:v>
                </c:pt>
                <c:pt idx="3">
                  <c:v>875</c:v>
                </c:pt>
                <c:pt idx="4">
                  <c:v>411</c:v>
                </c:pt>
                <c:pt idx="5">
                  <c:v>959</c:v>
                </c:pt>
                <c:pt idx="6">
                  <c:v>1121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AB-4A99-B0FD-1A4D0E4913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Ram Force One PM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178</c:v>
                </c:pt>
                <c:pt idx="1">
                  <c:v>728</c:v>
                </c:pt>
                <c:pt idx="2">
                  <c:v>793</c:v>
                </c:pt>
                <c:pt idx="3">
                  <c:v>633</c:v>
                </c:pt>
                <c:pt idx="4">
                  <c:v>545</c:v>
                </c:pt>
                <c:pt idx="5">
                  <c:v>910</c:v>
                </c:pt>
                <c:pt idx="6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AB-4A99-B0FD-1A4D0E491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A5C9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EE-4ABE-840B-5C7F672112B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6EE-4ABE-840B-5C7F672112B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6EE-4ABE-840B-5C7F672112B9}"/>
              </c:ext>
            </c:extLst>
          </c:dPt>
          <c:dPt>
            <c:idx val="3"/>
            <c:invertIfNegative val="0"/>
            <c:bubble3D val="0"/>
            <c:spPr>
              <a:solidFill>
                <a:srgbClr val="A8C4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EE-4ABE-840B-5C7F672112B9}"/>
              </c:ext>
            </c:extLst>
          </c:dPt>
          <c:dPt>
            <c:idx val="4"/>
            <c:invertIfNegative val="0"/>
            <c:bubble3D val="0"/>
            <c:spPr>
              <a:solidFill>
                <a:srgbClr val="A8C4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EE-4ABE-840B-5C7F672112B9}"/>
              </c:ext>
            </c:extLst>
          </c:dPt>
          <c:dPt>
            <c:idx val="5"/>
            <c:invertIfNegative val="0"/>
            <c:bubble3D val="0"/>
            <c:spPr>
              <a:solidFill>
                <a:srgbClr val="C0CB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EE-4ABE-840B-5C7F672112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Multiple times/day</c:v>
                </c:pt>
                <c:pt idx="1">
                  <c:v>Daily</c:v>
                </c:pt>
                <c:pt idx="2">
                  <c:v>Weekly</c:v>
                </c:pt>
                <c:pt idx="3">
                  <c:v>Monthly</c:v>
                </c:pt>
                <c:pt idx="4">
                  <c:v>Once in awhile</c:v>
                </c:pt>
                <c:pt idx="5">
                  <c:v>Never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177</c:v>
                </c:pt>
                <c:pt idx="1">
                  <c:v>78</c:v>
                </c:pt>
                <c:pt idx="2">
                  <c:v>59</c:v>
                </c:pt>
                <c:pt idx="3">
                  <c:v>9</c:v>
                </c:pt>
                <c:pt idx="4">
                  <c:v>44</c:v>
                </c:pt>
                <c:pt idx="5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EE-4ABE-840B-5C7F672112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riders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828-4632-8B35-7D6A44A1744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828-4632-8B35-7D6A44A17446}"/>
              </c:ext>
            </c:extLst>
          </c:dPt>
          <c:dPt>
            <c:idx val="2"/>
            <c:invertIfNegative val="0"/>
            <c:bubble3D val="0"/>
            <c:spPr>
              <a:solidFill>
                <a:srgbClr val="1A5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28-4632-8B35-7D6A44A1744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828-4632-8B35-7D6A44A17446}"/>
              </c:ext>
            </c:extLst>
          </c:dPt>
          <c:dPt>
            <c:idx val="4"/>
            <c:invertIfNegative val="0"/>
            <c:bubble3D val="0"/>
            <c:spPr>
              <a:solidFill>
                <a:srgbClr val="1A5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828-4632-8B35-7D6A44A17446}"/>
              </c:ext>
            </c:extLst>
          </c:dPt>
          <c:dPt>
            <c:idx val="5"/>
            <c:invertIfNegative val="0"/>
            <c:bubble3D val="0"/>
            <c:spPr>
              <a:solidFill>
                <a:srgbClr val="1A5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828-4632-8B35-7D6A44A17446}"/>
              </c:ext>
            </c:extLst>
          </c:dPt>
          <c:dPt>
            <c:idx val="6"/>
            <c:invertIfNegative val="0"/>
            <c:bubble3D val="0"/>
            <c:spPr>
              <a:solidFill>
                <a:srgbClr val="1A5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828-4632-8B35-7D6A44A17446}"/>
              </c:ext>
            </c:extLst>
          </c:dPt>
          <c:dPt>
            <c:idx val="7"/>
            <c:invertIfNegative val="0"/>
            <c:bubble3D val="0"/>
            <c:spPr>
              <a:solidFill>
                <a:srgbClr val="1A5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828-4632-8B35-7D6A44A174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Accessibility</c:v>
                </c:pt>
                <c:pt idx="1">
                  <c:v>Injury</c:v>
                </c:pt>
                <c:pt idx="2">
                  <c:v>Wellness Center</c:v>
                </c:pt>
                <c:pt idx="3">
                  <c:v>Personal safety</c:v>
                </c:pt>
                <c:pt idx="4">
                  <c:v>Group meetings</c:v>
                </c:pt>
                <c:pt idx="5">
                  <c:v>Parking issues</c:v>
                </c:pt>
                <c:pt idx="6">
                  <c:v>Rams Den / dining</c:v>
                </c:pt>
                <c:pt idx="7">
                  <c:v>To get to class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19</c:v>
                </c:pt>
                <c:pt idx="2">
                  <c:v>29</c:v>
                </c:pt>
                <c:pt idx="3">
                  <c:v>33</c:v>
                </c:pt>
                <c:pt idx="4">
                  <c:v>39</c:v>
                </c:pt>
                <c:pt idx="5">
                  <c:v>56</c:v>
                </c:pt>
                <c:pt idx="6">
                  <c:v>71</c:v>
                </c:pt>
                <c:pt idx="7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828-4632-8B35-7D6A44A174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respondents</c:v>
                </c:pt>
              </c:strCache>
            </c:strRef>
          </c:tx>
          <c:spPr>
            <a:solidFill>
              <a:srgbClr val="1A5C9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B2C-459C-BF2A-6780B73272E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B2C-459C-BF2A-6780B73272E9}"/>
              </c:ext>
            </c:extLst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2C-459C-BF2A-6780B73272E9}"/>
              </c:ext>
            </c:extLst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2C-459C-BF2A-6780B73272E9}"/>
              </c:ext>
            </c:extLst>
          </c:dPt>
          <c:dPt>
            <c:idx val="4"/>
            <c:invertIfNegative val="0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2C-459C-BF2A-6780B73272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7:30am – 12pm</c:v>
                </c:pt>
                <c:pt idx="1">
                  <c:v>12pm – 4pm</c:v>
                </c:pt>
                <c:pt idx="2">
                  <c:v>4pm – 7pm</c:v>
                </c:pt>
                <c:pt idx="3">
                  <c:v>7pm – 9pm</c:v>
                </c:pt>
                <c:pt idx="4">
                  <c:v>Not important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75</c:v>
                </c:pt>
                <c:pt idx="2">
                  <c:v>46</c:v>
                </c:pt>
                <c:pt idx="3">
                  <c:v>26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B2C-459C-BF2A-6780B73272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3D8-4D94-8F15-61871D97AA07}"/>
              </c:ext>
            </c:extLst>
          </c:dPt>
          <c:dPt>
            <c:idx val="1"/>
            <c:bubble3D val="0"/>
            <c:spPr>
              <a:solidFill>
                <a:srgbClr val="D0D8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D8-4D94-8F15-61871D97AA0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D8-4D94-8F15-61871D97AA0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3D8-4D94-8F15-61871D97AA0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Yes — support fee (43%)</c:v>
                </c:pt>
                <c:pt idx="1">
                  <c:v>No (57%)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43.3</c:v>
                </c:pt>
                <c:pt idx="1">
                  <c:v>56.7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D8-4D94-8F15-61871D97AA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5.0085705998706688E-2"/>
          <c:y val="5.0803122265966755E-2"/>
          <c:w val="0.93783699931530295"/>
          <c:h val="0.692790012576552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Riders per 100 students</c:v>
                </c:pt>
              </c:strCache>
            </c:strRef>
          </c:tx>
          <c:spPr>
            <a:solidFill>
              <a:srgbClr val="1A5C9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53-45C4-A91F-A00709B0505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753-45C4-A91F-A00709B0505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753-45C4-A91F-A00709B0505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753-45C4-A91F-A00709B0505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753-45C4-A91F-A00709B0505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753-45C4-A91F-A00709B0505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753-45C4-A91F-A00709B0505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6753-45C4-A91F-A00709B05053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6753-45C4-A91F-A00709B0505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6753-45C4-A91F-A00709B05053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6753-45C4-A91F-A00709B05053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6753-45C4-A91F-A00709B05053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6753-45C4-A91F-A00709B05053}"/>
              </c:ext>
            </c:extLst>
          </c:dPt>
          <c:dPt>
            <c:idx val="13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6753-45C4-A91F-A00709B05053}"/>
              </c:ext>
            </c:extLst>
          </c:dPt>
          <c:cat>
            <c:strRef>
              <c:f>Sheet1!$A$2:$A$15</c:f>
              <c:strCache>
                <c:ptCount val="14"/>
                <c:pt idx="0">
                  <c:v>FY11-12</c:v>
                </c:pt>
                <c:pt idx="1">
                  <c:v>FY13-14</c:v>
                </c:pt>
                <c:pt idx="2">
                  <c:v>FY14-15</c:v>
                </c:pt>
                <c:pt idx="3">
                  <c:v>FY15-16</c:v>
                </c:pt>
                <c:pt idx="4">
                  <c:v>FY16-17</c:v>
                </c:pt>
                <c:pt idx="5">
                  <c:v>FY17-18</c:v>
                </c:pt>
                <c:pt idx="6">
                  <c:v>FY18-19</c:v>
                </c:pt>
                <c:pt idx="7">
                  <c:v>FY19-20</c:v>
                </c:pt>
                <c:pt idx="8">
                  <c:v>FY20-21</c:v>
                </c:pt>
                <c:pt idx="9">
                  <c:v>FY21-22</c:v>
                </c:pt>
                <c:pt idx="10">
                  <c:v>FY22-23</c:v>
                </c:pt>
                <c:pt idx="11">
                  <c:v>FY23-24</c:v>
                </c:pt>
                <c:pt idx="12">
                  <c:v>FY24-25</c:v>
                </c:pt>
                <c:pt idx="13">
                  <c:v>FY25-26*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4.5999999999999996</c:v>
                </c:pt>
                <c:pt idx="1">
                  <c:v>4.0999999999999996</c:v>
                </c:pt>
                <c:pt idx="2">
                  <c:v>4.5</c:v>
                </c:pt>
                <c:pt idx="3">
                  <c:v>4.8</c:v>
                </c:pt>
                <c:pt idx="4">
                  <c:v>5.9</c:v>
                </c:pt>
                <c:pt idx="5">
                  <c:v>7.2</c:v>
                </c:pt>
                <c:pt idx="6">
                  <c:v>6.6</c:v>
                </c:pt>
                <c:pt idx="7">
                  <c:v>6.1</c:v>
                </c:pt>
                <c:pt idx="8">
                  <c:v>10.5</c:v>
                </c:pt>
                <c:pt idx="9">
                  <c:v>9.9</c:v>
                </c:pt>
                <c:pt idx="10">
                  <c:v>9</c:v>
                </c:pt>
                <c:pt idx="11">
                  <c:v>9.3000000000000007</c:v>
                </c:pt>
                <c:pt idx="12">
                  <c:v>9.4</c:v>
                </c:pt>
                <c:pt idx="13">
                  <c:v>12.1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6753-45C4-A91F-A00709B050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19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997B-8F3E-B6EE-A6D3-2FD9C3F9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A11EB-6B2C-7A7E-E67A-B99D4B1B7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DD273-052D-9E55-3CA2-4EA62750A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ED1F0-9F44-C308-F2D8-F800B7A10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5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0FD2-D136-9BB2-687A-DEE567BA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F8CD8-A142-78EF-4FA5-F535F48B6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DC4D-2FF2-8E86-779E-CB4C682F5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0C15A-3AEE-21B5-5AC5-856C5A856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51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A9449-7B8E-63E2-5CD8-FEF63B96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28F14-89EC-C1A5-F2F0-69833DDFC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4425D-2F49-5782-5696-D830CBE2D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34C29-7B1B-FC99-B3E1-C75A4DC6E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86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5C9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EPTA Services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Continued Funding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0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Shepherd University  ·  Ram Force One &amp; Ram Express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Data  ·  Student Survey (n=445)  ·  Enrollment Trends  ·  FY2011-12 through FY2025-26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A26A3A-B819-168E-0F0E-699F46C62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420" y="0"/>
            <a:ext cx="34975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1005840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Service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What EPTA is and who it serves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02920" cy="1005840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Ridership Trends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14 years of data — and a record-setting FY25-26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02920" cy="1005840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657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Student Voice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445 survey respondents speak for themselves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502920" cy="1005840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1280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Enrollment &amp; Impact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Why ridership is rising as enrollment falls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502920" cy="1005840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Patron Stories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Voices of the people who depend on EPTA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502920" cy="1005840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3657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The Ask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What continued funding means for students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199"/>
            <a:ext cx="9437914" cy="23382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routes. Five days a week. Free to all students.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E5D8D-C889-1CFC-879D-A24A33C6A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84"/>
          <a:stretch>
            <a:fillRect/>
          </a:stretch>
        </p:blipFill>
        <p:spPr>
          <a:xfrm>
            <a:off x="5636622" y="0"/>
            <a:ext cx="3507377" cy="31677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24700-6778-F883-DB1D-D4F92C65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9AC9A-8E04-CB20-FD53-CFBA0B21D7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92" b="9534"/>
          <a:stretch>
            <a:fillRect/>
          </a:stretch>
        </p:blipFill>
        <p:spPr>
          <a:xfrm>
            <a:off x="2642616" y="10"/>
            <a:ext cx="6501384" cy="51434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51435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4CEE301-429F-58EF-DF36-05EBD7A7D9CD}"/>
              </a:ext>
            </a:extLst>
          </p:cNvPr>
          <p:cNvSpPr/>
          <p:nvPr/>
        </p:nvSpPr>
        <p:spPr>
          <a:xfrm>
            <a:off x="358485" y="841772"/>
            <a:ext cx="3017520" cy="240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Complete Campus Coverage</a:t>
            </a:r>
            <a:endParaRPr lang="en-US" sz="3600"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B5F3AD-B89D-E8E5-1B15-325DFD294C22}"/>
              </a:ext>
            </a:extLst>
          </p:cNvPr>
          <p:cNvSpPr/>
          <p:nvPr/>
        </p:nvSpPr>
        <p:spPr>
          <a:xfrm>
            <a:off x="358485" y="3654691"/>
            <a:ext cx="3017519" cy="906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/>
              <a:t>Free campus transit for all Shepherd University students, Monday–Friday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633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Routes, One Mission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Free campus transit for all Shepherd University students, Monday–Friday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594360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Ram Force 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Campus circulator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9C"/>
                </a:solidFill>
              </a:rPr>
              <a:t>🕐 Hours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7:30 AM – 9:20 PM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9C"/>
                </a:solidFill>
              </a:rPr>
              <a:t>📅 Days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Mon – Fri (AM &amp; PM service)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6576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Connects West Campus residential halls, East Campus academic buildings, H-Lot, Rams Den, and Wellness Center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4023360" cy="5943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Ram Express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1764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Commuter connector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🕐 Hours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313432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Departs Caperton Station Martinsburg M-F at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6:50 AM &amp; 2:50 PM</a:t>
            </a: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Returns from H-Lot at 3:20 and 8:15pm M-Th and 5:15pm Fridays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246120"/>
            <a:ext cx="36576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3337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Links Caperton Train Station in Martinsburg directly to campus — a vital link for commuters without cars and then cycles constantly between H-Lot and Knutti Corner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AAC17-5904-402D-F1B6-2E5C98A0F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6471" y="1056472"/>
            <a:ext cx="5143500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9674" y="1994874"/>
            <a:ext cx="3266696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885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CB06C3F-C6E4-E9C5-EEFA-2FADF339FCA0}"/>
              </a:ext>
            </a:extLst>
          </p:cNvPr>
          <p:cNvSpPr/>
          <p:nvPr/>
        </p:nvSpPr>
        <p:spPr>
          <a:xfrm>
            <a:off x="495031" y="2208882"/>
            <a:ext cx="2159016" cy="20684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Two Routes, One Mission</a:t>
            </a:r>
            <a:endParaRPr lang="en-US" sz="30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009720-8E7A-56F8-AE00-26A2FA6C74DB}"/>
              </a:ext>
            </a:extLst>
          </p:cNvPr>
          <p:cNvSpPr/>
          <p:nvPr/>
        </p:nvSpPr>
        <p:spPr>
          <a:xfrm>
            <a:off x="495031" y="796880"/>
            <a:ext cx="2031147" cy="8233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>
                <a:solidFill>
                  <a:srgbClr val="FFFFFF"/>
                </a:solidFill>
              </a:rPr>
              <a:t>Free campus transit for all Shepherd University students, Monday–Friday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7793D7A-4F1A-E688-3A02-9B45EA426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083" y="134086"/>
            <a:ext cx="5790795" cy="487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1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EDEAD-7CC1-45C9-8E69-DE9CDFAA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865ED8E-A088-444C-B867-E20163841D3E}"/>
              </a:ext>
            </a:extLst>
          </p:cNvPr>
          <p:cNvSpPr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Two Routes, One Mission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2A3970-D43A-9AD8-FEF4-C81734691940}"/>
              </a:ext>
            </a:extLst>
          </p:cNvPr>
          <p:cNvSpPr/>
          <p:nvPr/>
        </p:nvSpPr>
        <p:spPr>
          <a:xfrm>
            <a:off x="495031" y="605118"/>
            <a:ext cx="2189804" cy="11205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Free campus transit for all Shepherd University students, Monday–Friday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BD83E2-52B8-F8E3-8C43-B093D6D62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488" y="350406"/>
            <a:ext cx="3431976" cy="444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04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Trends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years of data — and a record-setting FY2025-26.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13869-5429-B574-2F9B-5BCC58A1A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84"/>
          <a:stretch>
            <a:fillRect/>
          </a:stretch>
        </p:blipFill>
        <p:spPr>
          <a:xfrm>
            <a:off x="5636622" y="0"/>
            <a:ext cx="3507377" cy="31677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</a:rPr>
              <a:t>Ridership Has Never Been Higher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Annual ridership, FY2011-12 through FY2025-26  (FY12-13 excluded — data anomaly)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* FY25-26 +19% above  FY24-25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</a:rPr>
              <a:t>FY2025-26: A Record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64008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5C9C"/>
                </a:solidFill>
              </a:rPr>
              <a:t>37,173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29768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Riders to 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Aug 2025 – May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65960" cy="640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1704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9E75"/>
                </a:solidFill>
              </a:rPr>
              <a:t>+19%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78608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Growth vs FY24-25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31,306 full-year prior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1965960" cy="64008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1704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85A30"/>
                </a:solidFill>
              </a:rPr>
              <a:t>6,501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727448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February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103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Highest single month ever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1965960" cy="64008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11704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A7517"/>
                </a:solidFill>
              </a:rPr>
              <a:t>12.1+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876288" y="18288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Riders per 100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103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Students enrolled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Every month in FY25-26 exceeded the same month last year</a:t>
            </a:r>
            <a:endParaRPr lang="en-US" sz="13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365760" y="3017520"/>
          <a:ext cx="84124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</a:rPr>
              <a:t>Service Demand Across All Three Routes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Monthly ridership by route — FY2024-25 (Aug–Feb, full data)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Ram Force One AM carries the majority of riders — but all three routes show consistent demand throughout the semester.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Voice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0569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students surveyed — Feb 17 through Mar 5, 2025.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07C36-AD20-9293-EBDD-DA49489A68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84"/>
          <a:stretch>
            <a:fillRect/>
          </a:stretch>
        </p:blipFill>
        <p:spPr>
          <a:xfrm>
            <a:off x="5636622" y="0"/>
            <a:ext cx="3507377" cy="31677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</a:rPr>
              <a:t>Students Depend on EPTA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Student survey, n=445  ·  60% residential, 39% commuter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65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64008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075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5C9C"/>
                </a:solidFill>
              </a:rPr>
              <a:t>57%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29768" y="1965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Ride daily or more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Multiple times/day + daily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65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65960" cy="640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3075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9E75"/>
                </a:solidFill>
              </a:rPr>
              <a:t>75%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78608" y="1965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"Extremely important"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Q6: importance of campus bus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65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1965960" cy="64008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13075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5C9C"/>
                </a:solidFill>
              </a:rPr>
              <a:t>93%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727448" y="1965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Satisfied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Q12: agree + strongly agree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65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1965960" cy="640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13075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9E75"/>
                </a:solidFill>
              </a:rPr>
              <a:t>94%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76288" y="19659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Sufficient stops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Q9: routes meet their needs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365760" y="2834640"/>
          <a:ext cx="84124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</a:rPr>
              <a:t>Why Students Ride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Q3: Reasons for using EPTA (% of 360 active riders, multi-select)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926080" cy="1645920"/>
          </a:xfrm>
          <a:prstGeom prst="rect">
            <a:avLst/>
          </a:prstGeom>
          <a:solidFill>
            <a:srgbClr val="1A5C9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0" y="1234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56%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03504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C8F0"/>
                </a:solidFill>
              </a:rPr>
              <a:t>cite parking difficulties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0C8F0"/>
                </a:solidFill>
              </a:rPr>
              <a:t>as a reason to ride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2880360"/>
            <a:ext cx="2926080" cy="1645920"/>
          </a:xfrm>
          <a:prstGeom prst="rect">
            <a:avLst/>
          </a:prstGeom>
          <a:solidFill>
            <a:srgbClr val="D85A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3017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18%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035040" y="3657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AC0A8"/>
                </a:solidFill>
              </a:rPr>
              <a:t>ride for accessibility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AC0A8"/>
                </a:solidFill>
              </a:rPr>
              <a:t>or disability reasons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4617720"/>
            <a:ext cx="2926080" cy="457200"/>
          </a:xfrm>
          <a:prstGeom prst="rect">
            <a:avLst/>
          </a:prstGeom>
          <a:solidFill>
            <a:srgbClr val="E8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0" y="46634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5C9C"/>
                </a:solidFill>
              </a:rPr>
              <a:t>📷  INSERT PHOTO: Student boarding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</a:rPr>
              <a:t>When Service Matters Most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Q7: Critical time slots (multi-select, n=420)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822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Q8: Would support a small fee to maintain service?</a:t>
            </a:r>
            <a:endParaRPr lang="en-US" sz="12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5486400" y="1143000"/>
          <a:ext cx="34747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86400" y="3886200"/>
            <a:ext cx="3474720" cy="1097280"/>
          </a:xfrm>
          <a:prstGeom prst="rect">
            <a:avLst/>
          </a:prstGeom>
          <a:solidFill>
            <a:srgbClr val="E8F0F9"/>
          </a:solidFill>
          <a:ln w="63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623560" y="3977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</a:rPr>
              <a:t>Note: Many students oppose a fee not because they lack support for the service, but because they already pay a $70 parking pass that doesn't work across campus.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65760" y="4114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C9C"/>
                </a:solidFill>
              </a:rPr>
              <a:t>87% rate service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5C9C"/>
                </a:solidFill>
              </a:rPr>
              <a:t>extr. or very important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709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Disability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4864" cy="96012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"If the EPTA were not available I would not be able to attend classes. I am disabled and cannot walk across campus and cannot drive so I rely on the bus as transit to classes, work, and food."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54864" cy="96012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"As a student who has POTS the EPTA makes it easier for me to get from one side to another without worry of an episode — walking is very hard and can be dangerous for my condition."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54864" cy="96012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"The elimination of the EPTA services would be discriminatory to those with disabilities who cannot easily transport themselves across campus."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0" y="1463040"/>
            <a:ext cx="2011680" cy="3383280"/>
          </a:xfrm>
          <a:prstGeom prst="rect">
            <a:avLst/>
          </a:prstGeom>
          <a:solidFill>
            <a:srgbClr val="0D1A2D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219456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📷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INSERT PHOTO: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Student with mobility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aid using EPTA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A8A"/>
                </a:solidFill>
              </a:rPr>
              <a:t>178 students left written comments  ·  47 volunteered for a focus group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771204-A11B-8091-771F-535882E23D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242" t="112" r="28234" b="-112"/>
          <a:stretch>
            <a:fillRect/>
          </a:stretch>
        </p:blipFill>
        <p:spPr>
          <a:xfrm>
            <a:off x="6868612" y="1463040"/>
            <a:ext cx="2001067" cy="34334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7094B5"/>
                </a:solidFill>
              </a:rPr>
              <a:t>In Their Own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Safety &amp; Weather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4864" cy="96012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"Disabled and injured students are owed transportation across campus. As a woman who takes classes that end at 7pm and 9pm, I do not feel safe walking back to my campus apartment alone in the dark."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54864" cy="96012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"Walking to class in freezing temperatures at 8am is really hard… sometimes the only reason I have the motivation to go to my earliest classes is because I know there is a bus."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54864" cy="96012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"I am a commuter who had a car accident when roads were icy on the way to campus. The EPTA shuttle has allowed me to continue to attend Shepherd despite losing my car."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0" y="1463040"/>
            <a:ext cx="2011680" cy="3383280"/>
          </a:xfrm>
          <a:prstGeom prst="rect">
            <a:avLst/>
          </a:prstGeom>
          <a:solidFill>
            <a:srgbClr val="0D1A2D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219456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📷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INSERT PHOTO: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Bus in winter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students in cold weather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92AC63-7043-850B-1AA7-1239F3F5C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63039"/>
            <a:ext cx="2011680" cy="14767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82849A-FE9B-3A1A-1EAE-E7E0889A4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9" y="3617796"/>
            <a:ext cx="2016368" cy="13685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A4C92D-84A9-237B-276A-0B036624A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939756"/>
            <a:ext cx="2023686" cy="6780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7094B5"/>
                </a:solidFill>
              </a:rPr>
              <a:t>In Their Own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Parking &amp; Residential Access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4864" cy="9601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"As a residential student, we have nowhere to park. When it's really cold or there's a time crunch, I need the bus to get across campus from West Woods."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54864" cy="9601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"EPTA is one of my favorite things about SU. It makes navigating campus so much easier for students, especially the not insignificant number with disabilities, and is a crucial part of Shepherd's parking strategy."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6217920" cy="960120"/>
          </a:xfrm>
          <a:prstGeom prst="rect">
            <a:avLst/>
          </a:prstGeom>
          <a:solidFill>
            <a:srgbClr val="0D1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54864" cy="9601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"Every student is furious about reductions/cuts to EPTA and feels it's punitive. If programs and services continue to be cut, enrollment will keep declining as SU becomes less attractive and competitive."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0" y="1463040"/>
            <a:ext cx="2011680" cy="3383280"/>
          </a:xfrm>
          <a:prstGeom prst="rect">
            <a:avLst/>
          </a:prstGeom>
          <a:solidFill>
            <a:srgbClr val="0D1A2D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219456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📷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INSERT PHOTO: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H-Lot / parking area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6A8A"/>
                </a:solidFill>
              </a:rPr>
              <a:t>or residential halls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AD7A06-A077-9E00-3CC7-097ABB0F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40" b="9091"/>
          <a:stretch>
            <a:fillRect/>
          </a:stretch>
        </p:blipFill>
        <p:spPr>
          <a:xfrm>
            <a:off x="6876288" y="1373233"/>
            <a:ext cx="2005500" cy="35628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&amp; Impact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0569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growing as enrollment falls — a vital safety net.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94690-8E5B-2B47-9331-B6E9E33C30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84"/>
          <a:stretch>
            <a:fillRect/>
          </a:stretch>
        </p:blipFill>
        <p:spPr>
          <a:xfrm>
            <a:off x="5636622" y="0"/>
            <a:ext cx="3507377" cy="31677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166B150-CCF4-0BED-B7A1-A7C3A335EA15}"/>
              </a:ext>
            </a:extLst>
          </p:cNvPr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Increasing Ridership meets decreasing enrollment</a:t>
            </a: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6D6A9-FD35-FA11-35AD-4F4D94472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1530103"/>
            <a:ext cx="8495662" cy="3228352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8F6A6998-7EFA-DC57-EB62-7EB6A7DECC89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43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</a:rPr>
              <a:t>More Essential Per Student Than Ever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Fall enrollment has fallen 30% since 2011 — yet ridership has grown. Students rely on EPTA more, not less.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73993336"/>
              </p:ext>
            </p:extLst>
          </p:nvPr>
        </p:nvGraphicFramePr>
        <p:xfrm>
          <a:off x="365760" y="1097280"/>
          <a:ext cx="84124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114800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4114800"/>
            <a:ext cx="2651760" cy="64008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404752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85A30"/>
                </a:solidFill>
              </a:rPr>
              <a:t>-30%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29768" y="450929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Enrollment decline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478361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4,393 (2011) → 3,069 (2025)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4114800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4114800"/>
            <a:ext cx="2651760" cy="640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46120" y="40462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9E75"/>
                </a:solidFill>
              </a:rPr>
              <a:t>+163%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355848" y="454587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Ridership per student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482019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4.6 (FY11) → 12.1+ (FY26)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4114800"/>
            <a:ext cx="26517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72200" y="4114800"/>
            <a:ext cx="2651760" cy="64008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4040995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A7517"/>
                </a:solidFill>
              </a:rPr>
              <a:t>3,069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6327648" y="4512563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</a:rPr>
              <a:t>Students enrolled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4786883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Fall 2025 — lowest in 14 years</a:t>
            </a:r>
            <a:endParaRPr lang="en-US" sz="10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F56D439D-941B-A559-6A06-C72306E6BDE4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7427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continued funding means for Shepherd students.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8B585-1C85-0995-25ED-F327912760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84"/>
          <a:stretch>
            <a:fillRect/>
          </a:stretch>
        </p:blipFill>
        <p:spPr>
          <a:xfrm>
            <a:off x="5636622" y="0"/>
            <a:ext cx="3507377" cy="31677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</a:rPr>
              <a:t>What Continued Funding Protects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73152" cy="713232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</a:rPr>
              <a:t>Accessibility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Students with disabilities, POTS, chronic conditions, and temporary injuries depend on EPTA as their primary way to reach class, dining, and work.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73152" cy="713232"/>
          </a:xfrm>
          <a:prstGeom prst="rect">
            <a:avLst/>
          </a:prstGeom>
          <a:solidFill>
            <a:srgbClr val="1A5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9C"/>
                </a:solidFill>
              </a:rPr>
              <a:t>Student Safety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148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 7pm–9pm window carries 110 students who don't feel safe walking alone in the dark — especially women with late-night classes.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73152" cy="7132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670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Parking Relief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9443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56% of riders cite parking as a primary reason. Eliminating EPTA shifts that burden back to an already strained parking infrastructure.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73152" cy="713232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465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7517"/>
                </a:solidFill>
              </a:rPr>
              <a:t>Enrollment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7398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Students explicitly link EPTA to their decision to stay at Shepherd. Cuts signal disinvestment in student services at a critical enrollment moment.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87952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187952"/>
            <a:ext cx="73152" cy="71323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4261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Martinsburg Link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45354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Ram Force One connects students without cars from Martinsburg — removing it cuts off transit-dependent commuters with no alternative.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data is clear.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86C8"/>
                </a:solidFill>
              </a:rPr>
              <a:t>The students have spoken.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BDD8"/>
                </a:solidFill>
              </a:rPr>
              <a:t>EPTA is not a convenience — it's infrastructure.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5577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</a:rPr>
              <a:t>37,173 riders in FY25-26 and growing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</a:rPr>
              <a:t>Record ridership despite falling enrollment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</a:rPr>
              <a:t>75% of students call it extremely important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</a:rPr>
              <a:t>93% report satisfaction with service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>
                <a:solidFill>
                  <a:srgbClr val="C8D8E8"/>
                </a:solidFill>
              </a:rPr>
              <a:t>43% of students support a fee increase to maintain service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</a:rPr>
              <a:t>Critical for disability access, safety &amp; parking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718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A8A"/>
                </a:solidFill>
              </a:rPr>
              <a:t>Questions?  ·  EPTA Services 2025  ·  Shepherd University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44DC81-AE7E-FB76-DE7B-18E5B176BA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0" t="3527" r="24199"/>
          <a:stretch>
            <a:fillRect/>
          </a:stretch>
        </p:blipFill>
        <p:spPr>
          <a:xfrm>
            <a:off x="6434440" y="1795982"/>
            <a:ext cx="2493039" cy="28171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9C9331-9592-629E-911B-489E92635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440" y="602873"/>
            <a:ext cx="2524212" cy="8457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10238</TotalTime>
  <Words>1305</Words>
  <Application>Microsoft Office PowerPoint</Application>
  <PresentationFormat>On-screen Show (16:9)</PresentationFormat>
  <Paragraphs>194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EPTA Services — Funding Case 2025</dc:title>
  <dc:subject>PptxGenJS Presentation</dc:subject>
  <dc:creator>Shepherd University / EPTA</dc:creator>
  <cp:lastModifiedBy>John D Meeker</cp:lastModifiedBy>
  <cp:revision>4</cp:revision>
  <dcterms:created xsi:type="dcterms:W3CDTF">2026-05-12T15:23:02Z</dcterms:created>
  <dcterms:modified xsi:type="dcterms:W3CDTF">2026-05-22T15:38:32Z</dcterms:modified>
</cp:coreProperties>
</file>