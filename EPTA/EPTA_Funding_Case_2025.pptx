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4.xml" ContentType="application/vnd.openxmlformats-officedocument.drawingml.chart+xml"/>
  <Override PartName="/ppt/notesSlides/notesSlide11.xml" ContentType="application/vnd.openxmlformats-officedocument.presentationml.notesSlide+xml"/>
  <Override PartName="/ppt/charts/chart5.xml" ContentType="application/vnd.openxmlformats-officedocument.drawingml.chart+xml"/>
  <Override PartName="/ppt/notesSlides/notesSlide12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charts/chart8.xml" ContentType="application/vnd.openxmlformats-officedocument.drawingml.chart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Riders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2A59-4941-BE50-724AC7968BF2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2A59-4941-BE50-724AC7968BF2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2A59-4941-BE50-724AC7968BF2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2A59-4941-BE50-724AC7968BF2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2A59-4941-BE50-724AC7968BF2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2A59-4941-BE50-724AC7968BF2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2A59-4941-BE50-724AC7968BF2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2A59-4941-BE50-724AC7968BF2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2A59-4941-BE50-724AC7968BF2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2A59-4941-BE50-724AC7968BF2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2A59-4941-BE50-724AC7968BF2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2A59-4941-BE50-724AC7968BF2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2A59-4941-BE50-724AC7968BF2}"/>
              </c:ext>
            </c:extLst>
          </c:dPt>
          <c:dPt>
            <c:idx val="13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B-2A59-4941-BE50-724AC7968BF2}"/>
              </c:ext>
            </c:extLst>
          </c:dPt>
          <c:cat>
            <c:strRef>
              <c:f>Sheet1!$A$2:$A$15</c:f>
              <c:strCache>
                <c:ptCount val="14"/>
                <c:pt idx="0">
                  <c:v>FY11-12</c:v>
                </c:pt>
                <c:pt idx="1">
                  <c:v>FY13-14</c:v>
                </c:pt>
                <c:pt idx="2">
                  <c:v>FY14-15</c:v>
                </c:pt>
                <c:pt idx="3">
                  <c:v>FY15-16</c:v>
                </c:pt>
                <c:pt idx="4">
                  <c:v>FY16-17</c:v>
                </c:pt>
                <c:pt idx="5">
                  <c:v>FY17-18</c:v>
                </c:pt>
                <c:pt idx="6">
                  <c:v>FY18-19</c:v>
                </c:pt>
                <c:pt idx="7">
                  <c:v>FY19-20</c:v>
                </c:pt>
                <c:pt idx="8">
                  <c:v>FY20-21</c:v>
                </c:pt>
                <c:pt idx="9">
                  <c:v>FY21-22</c:v>
                </c:pt>
                <c:pt idx="10">
                  <c:v>FY22-23</c:v>
                </c:pt>
                <c:pt idx="11">
                  <c:v>FY23-24</c:v>
                </c:pt>
                <c:pt idx="12">
                  <c:v>FY24-25</c:v>
                </c:pt>
                <c:pt idx="13">
                  <c:v>FY25-26*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20071</c:v>
                </c:pt>
                <c:pt idx="1">
                  <c:v>17302</c:v>
                </c:pt>
                <c:pt idx="2">
                  <c:v>17992</c:v>
                </c:pt>
                <c:pt idx="3">
                  <c:v>18710</c:v>
                </c:pt>
                <c:pt idx="4">
                  <c:v>22128</c:v>
                </c:pt>
                <c:pt idx="5">
                  <c:v>27054</c:v>
                </c:pt>
                <c:pt idx="6">
                  <c:v>24244</c:v>
                </c:pt>
                <c:pt idx="7">
                  <c:v>21756</c:v>
                </c:pt>
                <c:pt idx="8">
                  <c:v>32992</c:v>
                </c:pt>
                <c:pt idx="9">
                  <c:v>29824</c:v>
                </c:pt>
                <c:pt idx="10">
                  <c:v>29166</c:v>
                </c:pt>
                <c:pt idx="11">
                  <c:v>30753</c:v>
                </c:pt>
                <c:pt idx="12">
                  <c:v>31306</c:v>
                </c:pt>
                <c:pt idx="13">
                  <c:v>37173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2A59-4941-BE50-724AC7968BF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FY25-26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Aug</c:v>
                </c:pt>
                <c:pt idx="1">
                  <c:v>Sep</c:v>
                </c:pt>
                <c:pt idx="2">
                  <c:v>Oct</c:v>
                </c:pt>
                <c:pt idx="3">
                  <c:v>Nov</c:v>
                </c:pt>
                <c:pt idx="4">
                  <c:v>Dec</c:v>
                </c:pt>
                <c:pt idx="5">
                  <c:v>Jan</c:v>
                </c:pt>
                <c:pt idx="6">
                  <c:v>Feb</c:v>
                </c:pt>
                <c:pt idx="7">
                  <c:v>Mar</c:v>
                </c:pt>
                <c:pt idx="8">
                  <c:v>Apr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976</c:v>
                </c:pt>
                <c:pt idx="1">
                  <c:v>5196</c:v>
                </c:pt>
                <c:pt idx="2">
                  <c:v>5212</c:v>
                </c:pt>
                <c:pt idx="3">
                  <c:v>4001</c:v>
                </c:pt>
                <c:pt idx="4">
                  <c:v>1874</c:v>
                </c:pt>
                <c:pt idx="5">
                  <c:v>3598</c:v>
                </c:pt>
                <c:pt idx="6">
                  <c:v>6501</c:v>
                </c:pt>
                <c:pt idx="7">
                  <c:v>4875</c:v>
                </c:pt>
                <c:pt idx="8">
                  <c:v>4884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E0F-4A70-8449-D9E8D4B08D7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FY24-25</c:v>
                </c:pt>
              </c:strCache>
            </c:strRef>
          </c:tx>
          <c:spPr>
            <a:solidFill>
              <a:srgbClr val="A8C4E0"/>
            </a:solidFill>
            <a:effectLst/>
          </c:spPr>
          <c:invertIfNegative val="0"/>
          <c:cat>
            <c:strRef>
              <c:f>Sheet1!$A$2:$A$10</c:f>
              <c:strCache>
                <c:ptCount val="9"/>
                <c:pt idx="0">
                  <c:v>Aug</c:v>
                </c:pt>
                <c:pt idx="1">
                  <c:v>Sep</c:v>
                </c:pt>
                <c:pt idx="2">
                  <c:v>Oct</c:v>
                </c:pt>
                <c:pt idx="3">
                  <c:v>Nov</c:v>
                </c:pt>
                <c:pt idx="4">
                  <c:v>Dec</c:v>
                </c:pt>
                <c:pt idx="5">
                  <c:v>Jan</c:v>
                </c:pt>
                <c:pt idx="6">
                  <c:v>Feb</c:v>
                </c:pt>
                <c:pt idx="7">
                  <c:v>Mar</c:v>
                </c:pt>
                <c:pt idx="8">
                  <c:v>Apr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1067</c:v>
                </c:pt>
                <c:pt idx="1">
                  <c:v>4663</c:v>
                </c:pt>
                <c:pt idx="2">
                  <c:v>4586</c:v>
                </c:pt>
                <c:pt idx="3">
                  <c:v>3579</c:v>
                </c:pt>
                <c:pt idx="4">
                  <c:v>2186</c:v>
                </c:pt>
                <c:pt idx="5">
                  <c:v>2974</c:v>
                </c:pt>
                <c:pt idx="6">
                  <c:v>3997</c:v>
                </c:pt>
                <c:pt idx="7">
                  <c:v>3372</c:v>
                </c:pt>
                <c:pt idx="8">
                  <c:v>4534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E0F-4A70-8449-D9E8D4B08D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Ram Force One AM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Aug</c:v>
                </c:pt>
                <c:pt idx="1">
                  <c:v>Sep</c:v>
                </c:pt>
                <c:pt idx="2">
                  <c:v>Oct</c:v>
                </c:pt>
                <c:pt idx="3">
                  <c:v>Nov</c:v>
                </c:pt>
                <c:pt idx="4">
                  <c:v>Dec</c:v>
                </c:pt>
                <c:pt idx="5">
                  <c:v>Jan</c:v>
                </c:pt>
                <c:pt idx="6">
                  <c:v>Feb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678</c:v>
                </c:pt>
                <c:pt idx="1">
                  <c:v>2495</c:v>
                </c:pt>
                <c:pt idx="2">
                  <c:v>2627</c:v>
                </c:pt>
                <c:pt idx="3">
                  <c:v>2207</c:v>
                </c:pt>
                <c:pt idx="4">
                  <c:v>1320</c:v>
                </c:pt>
                <c:pt idx="5">
                  <c:v>2360</c:v>
                </c:pt>
                <c:pt idx="6">
                  <c:v>3302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BAB-4A99-B0FD-1A4D0E49133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Ram Express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Aug</c:v>
                </c:pt>
                <c:pt idx="1">
                  <c:v>Sep</c:v>
                </c:pt>
                <c:pt idx="2">
                  <c:v>Oct</c:v>
                </c:pt>
                <c:pt idx="3">
                  <c:v>Nov</c:v>
                </c:pt>
                <c:pt idx="4">
                  <c:v>Dec</c:v>
                </c:pt>
                <c:pt idx="5">
                  <c:v>Jan</c:v>
                </c:pt>
                <c:pt idx="6">
                  <c:v>Feb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376</c:v>
                </c:pt>
                <c:pt idx="1">
                  <c:v>1254</c:v>
                </c:pt>
                <c:pt idx="2">
                  <c:v>1259</c:v>
                </c:pt>
                <c:pt idx="3">
                  <c:v>875</c:v>
                </c:pt>
                <c:pt idx="4">
                  <c:v>411</c:v>
                </c:pt>
                <c:pt idx="5">
                  <c:v>959</c:v>
                </c:pt>
                <c:pt idx="6">
                  <c:v>1121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BAB-4A99-B0FD-1A4D0E49133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 Force One PM</c:v>
                </c:pt>
              </c:strCache>
            </c:strRef>
          </c:tx>
          <c:spPr>
            <a:solidFill>
              <a:srgbClr val="D85A30"/>
            </a:solidFill>
            <a:effectLst/>
          </c:spPr>
          <c:invertIfNegative val="0"/>
          <c:cat>
            <c:strRef>
              <c:f>Sheet1!$A$2:$A$8</c:f>
              <c:strCache>
                <c:ptCount val="7"/>
                <c:pt idx="0">
                  <c:v>Aug</c:v>
                </c:pt>
                <c:pt idx="1">
                  <c:v>Sep</c:v>
                </c:pt>
                <c:pt idx="2">
                  <c:v>Oct</c:v>
                </c:pt>
                <c:pt idx="3">
                  <c:v>Nov</c:v>
                </c:pt>
                <c:pt idx="4">
                  <c:v>Dec</c:v>
                </c:pt>
                <c:pt idx="5">
                  <c:v>Jan</c:v>
                </c:pt>
                <c:pt idx="6">
                  <c:v>Feb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178</c:v>
                </c:pt>
                <c:pt idx="1">
                  <c:v>728</c:v>
                </c:pt>
                <c:pt idx="2">
                  <c:v>793</c:v>
                </c:pt>
                <c:pt idx="3">
                  <c:v>633</c:v>
                </c:pt>
                <c:pt idx="4">
                  <c:v>545</c:v>
                </c:pt>
                <c:pt idx="5">
                  <c:v>910</c:v>
                </c:pt>
                <c:pt idx="6">
                  <c:v>1036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BAB-4A99-B0FD-1A4D0E49133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Students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6EE-4ABE-840B-5C7F672112B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6EE-4ABE-840B-5C7F672112B9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16EE-4ABE-840B-5C7F672112B9}"/>
              </c:ext>
            </c:extLst>
          </c:dPt>
          <c:dPt>
            <c:idx val="3"/>
            <c:invertIfNegative val="0"/>
            <c:bubble3D val="0"/>
            <c:spPr>
              <a:solidFill>
                <a:srgbClr val="A8C4E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6EE-4ABE-840B-5C7F672112B9}"/>
              </c:ext>
            </c:extLst>
          </c:dPt>
          <c:dPt>
            <c:idx val="4"/>
            <c:invertIfNegative val="0"/>
            <c:bubble3D val="0"/>
            <c:spPr>
              <a:solidFill>
                <a:srgbClr val="A8C4E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6EE-4ABE-840B-5C7F672112B9}"/>
              </c:ext>
            </c:extLst>
          </c:dPt>
          <c:dPt>
            <c:idx val="5"/>
            <c:invertIfNegative val="0"/>
            <c:bubble3D val="0"/>
            <c:spPr>
              <a:solidFill>
                <a:srgbClr val="C0CBD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6EE-4ABE-840B-5C7F672112B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Multiple times/day</c:v>
                </c:pt>
                <c:pt idx="1">
                  <c:v>Daily</c:v>
                </c:pt>
                <c:pt idx="2">
                  <c:v>Weekly</c:v>
                </c:pt>
                <c:pt idx="3">
                  <c:v>Monthly</c:v>
                </c:pt>
                <c:pt idx="4">
                  <c:v>Once in awhile</c:v>
                </c:pt>
                <c:pt idx="5">
                  <c:v>Never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</c:v>
                </c:pt>
                <c:pt idx="1">
                  <c:v>78</c:v>
                </c:pt>
                <c:pt idx="2">
                  <c:v>59</c:v>
                </c:pt>
                <c:pt idx="3">
                  <c:v>9</c:v>
                </c:pt>
                <c:pt idx="4">
                  <c:v>44</c:v>
                </c:pt>
                <c:pt idx="5">
                  <c:v>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16EE-4ABE-840B-5C7F672112B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riders</c:v>
                </c:pt>
              </c:strCache>
            </c:strRef>
          </c:tx>
          <c:spPr>
            <a:solidFill>
              <a:srgbClr val="D85A30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1828-4632-8B35-7D6A44A17446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1828-4632-8B35-7D6A44A17446}"/>
              </c:ext>
            </c:extLst>
          </c:dPt>
          <c:dPt>
            <c:idx val="2"/>
            <c:invertIfNegative val="0"/>
            <c:bubble3D val="0"/>
            <c:spPr>
              <a:solidFill>
                <a:srgbClr val="1A5C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828-4632-8B35-7D6A44A17446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1828-4632-8B35-7D6A44A17446}"/>
              </c:ext>
            </c:extLst>
          </c:dPt>
          <c:dPt>
            <c:idx val="4"/>
            <c:invertIfNegative val="0"/>
            <c:bubble3D val="0"/>
            <c:spPr>
              <a:solidFill>
                <a:srgbClr val="1A5C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828-4632-8B35-7D6A44A17446}"/>
              </c:ext>
            </c:extLst>
          </c:dPt>
          <c:dPt>
            <c:idx val="5"/>
            <c:invertIfNegative val="0"/>
            <c:bubble3D val="0"/>
            <c:spPr>
              <a:solidFill>
                <a:srgbClr val="1A5C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828-4632-8B35-7D6A44A17446}"/>
              </c:ext>
            </c:extLst>
          </c:dPt>
          <c:dPt>
            <c:idx val="6"/>
            <c:invertIfNegative val="0"/>
            <c:bubble3D val="0"/>
            <c:spPr>
              <a:solidFill>
                <a:srgbClr val="1A5C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828-4632-8B35-7D6A44A17446}"/>
              </c:ext>
            </c:extLst>
          </c:dPt>
          <c:dPt>
            <c:idx val="7"/>
            <c:invertIfNegative val="0"/>
            <c:bubble3D val="0"/>
            <c:spPr>
              <a:solidFill>
                <a:srgbClr val="1A5C9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1828-4632-8B35-7D6A44A1744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Accessibility</c:v>
                </c:pt>
                <c:pt idx="1">
                  <c:v>Injury</c:v>
                </c:pt>
                <c:pt idx="2">
                  <c:v>Wellness Center</c:v>
                </c:pt>
                <c:pt idx="3">
                  <c:v>Personal safety</c:v>
                </c:pt>
                <c:pt idx="4">
                  <c:v>Group meetings</c:v>
                </c:pt>
                <c:pt idx="5">
                  <c:v>Parking issues</c:v>
                </c:pt>
                <c:pt idx="6">
                  <c:v>Rams Den / dining</c:v>
                </c:pt>
                <c:pt idx="7">
                  <c:v>To get to class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</c:v>
                </c:pt>
                <c:pt idx="1">
                  <c:v>19</c:v>
                </c:pt>
                <c:pt idx="2">
                  <c:v>29</c:v>
                </c:pt>
                <c:pt idx="3">
                  <c:v>33</c:v>
                </c:pt>
                <c:pt idx="4">
                  <c:v>39</c:v>
                </c:pt>
                <c:pt idx="5">
                  <c:v>56</c:v>
                </c:pt>
                <c:pt idx="6">
                  <c:v>71</c:v>
                </c:pt>
                <c:pt idx="7">
                  <c:v>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28-4632-8B35-7D6A44A174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of respondents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B2C-459C-BF2A-6780B73272E9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B2C-459C-BF2A-6780B73272E9}"/>
              </c:ext>
            </c:extLst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B2C-459C-BF2A-6780B73272E9}"/>
              </c:ext>
            </c:extLst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B2C-459C-BF2A-6780B73272E9}"/>
              </c:ext>
            </c:extLst>
          </c:dPt>
          <c:dPt>
            <c:idx val="4"/>
            <c:invertIfNegative val="0"/>
            <c:bubble3D val="0"/>
            <c:spPr>
              <a:solidFill>
                <a:srgbClr val="B0BEC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B2C-459C-BF2A-6780B73272E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7:30am – 12pm</c:v>
                </c:pt>
                <c:pt idx="1">
                  <c:v>12pm – 4pm</c:v>
                </c:pt>
                <c:pt idx="2">
                  <c:v>4pm – 7pm</c:v>
                </c:pt>
                <c:pt idx="3">
                  <c:v>7pm – 9pm</c:v>
                </c:pt>
                <c:pt idx="4">
                  <c:v>Not important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75</c:v>
                </c:pt>
                <c:pt idx="2">
                  <c:v>46</c:v>
                </c:pt>
                <c:pt idx="3">
                  <c:v>26</c:v>
                </c:pt>
                <c:pt idx="4">
                  <c:v>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B2C-459C-BF2A-6780B73272E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3D8-4D94-8F15-61871D97AA07}"/>
              </c:ext>
            </c:extLst>
          </c:dPt>
          <c:dPt>
            <c:idx val="1"/>
            <c:bubble3D val="0"/>
            <c:spPr>
              <a:solidFill>
                <a:srgbClr val="D0D8E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3D8-4D94-8F15-61871D97AA0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3D8-4D94-8F15-61871D97AA0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3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3D8-4D94-8F15-61871D97AA0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Yes — support fee (43%)</c:v>
                </c:pt>
                <c:pt idx="1">
                  <c:v>No (57%)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43.3</c:v>
                </c:pt>
                <c:pt idx="1">
                  <c:v>56.7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3D8-4D94-8F15-61871D97AA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Riders per 100 students</c:v>
                </c:pt>
              </c:strCache>
            </c:strRef>
          </c:tx>
          <c:spPr>
            <a:solidFill>
              <a:srgbClr val="1A5C9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753-45C4-A91F-A00709B05053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6753-45C4-A91F-A00709B05053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6753-45C4-A91F-A00709B05053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6753-45C4-A91F-A00709B05053}"/>
              </c:ext>
            </c:extLst>
          </c:dPt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9-6753-45C4-A91F-A00709B05053}"/>
              </c:ext>
            </c:extLst>
          </c:dPt>
          <c:dPt>
            <c:idx val="5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B-6753-45C4-A91F-A00709B05053}"/>
              </c:ext>
            </c:extLst>
          </c:dPt>
          <c:dPt>
            <c:idx val="6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D-6753-45C4-A91F-A00709B05053}"/>
              </c:ext>
            </c:extLst>
          </c:dPt>
          <c:dPt>
            <c:idx val="7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F-6753-45C4-A91F-A00709B05053}"/>
              </c:ext>
            </c:extLst>
          </c:dPt>
          <c:dPt>
            <c:idx val="8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1-6753-45C4-A91F-A00709B05053}"/>
              </c:ext>
            </c:extLst>
          </c:dPt>
          <c:dPt>
            <c:idx val="9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3-6753-45C4-A91F-A00709B05053}"/>
              </c:ext>
            </c:extLst>
          </c:dPt>
          <c:dPt>
            <c:idx val="1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5-6753-45C4-A91F-A00709B05053}"/>
              </c:ext>
            </c:extLst>
          </c:dPt>
          <c:dPt>
            <c:idx val="1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7-6753-45C4-A91F-A00709B05053}"/>
              </c:ext>
            </c:extLst>
          </c:dPt>
          <c:dPt>
            <c:idx val="1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19-6753-45C4-A91F-A00709B05053}"/>
              </c:ext>
            </c:extLst>
          </c:dPt>
          <c:dPt>
            <c:idx val="13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B-6753-45C4-A91F-A00709B05053}"/>
              </c:ext>
            </c:extLst>
          </c:dPt>
          <c:cat>
            <c:strRef>
              <c:f>Sheet1!$A$2:$A$15</c:f>
              <c:strCache>
                <c:ptCount val="14"/>
                <c:pt idx="0">
                  <c:v>FY11-12</c:v>
                </c:pt>
                <c:pt idx="1">
                  <c:v>FY13-14</c:v>
                </c:pt>
                <c:pt idx="2">
                  <c:v>FY14-15</c:v>
                </c:pt>
                <c:pt idx="3">
                  <c:v>FY15-16</c:v>
                </c:pt>
                <c:pt idx="4">
                  <c:v>FY16-17</c:v>
                </c:pt>
                <c:pt idx="5">
                  <c:v>FY17-18</c:v>
                </c:pt>
                <c:pt idx="6">
                  <c:v>FY18-19</c:v>
                </c:pt>
                <c:pt idx="7">
                  <c:v>FY19-20</c:v>
                </c:pt>
                <c:pt idx="8">
                  <c:v>FY20-21</c:v>
                </c:pt>
                <c:pt idx="9">
                  <c:v>FY21-22</c:v>
                </c:pt>
                <c:pt idx="10">
                  <c:v>FY22-23</c:v>
                </c:pt>
                <c:pt idx="11">
                  <c:v>FY23-24</c:v>
                </c:pt>
                <c:pt idx="12">
                  <c:v>FY24-25</c:v>
                </c:pt>
                <c:pt idx="13">
                  <c:v>FY25-26*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4.5999999999999996</c:v>
                </c:pt>
                <c:pt idx="1">
                  <c:v>4.0999999999999996</c:v>
                </c:pt>
                <c:pt idx="2">
                  <c:v>4.5</c:v>
                </c:pt>
                <c:pt idx="3">
                  <c:v>4.8</c:v>
                </c:pt>
                <c:pt idx="4">
                  <c:v>5.9</c:v>
                </c:pt>
                <c:pt idx="5">
                  <c:v>7.2</c:v>
                </c:pt>
                <c:pt idx="6">
                  <c:v>6.6</c:v>
                </c:pt>
                <c:pt idx="7">
                  <c:v>6.1</c:v>
                </c:pt>
                <c:pt idx="8">
                  <c:v>10.5</c:v>
                </c:pt>
                <c:pt idx="9">
                  <c:v>9.9</c:v>
                </c:pt>
                <c:pt idx="10">
                  <c:v>9</c:v>
                </c:pt>
                <c:pt idx="11">
                  <c:v>9.3000000000000007</c:v>
                </c:pt>
                <c:pt idx="12">
                  <c:v>9.4</c:v>
                </c:pt>
                <c:pt idx="13">
                  <c:v>12.1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6753-45C4-A91F-A00709B050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91950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1A5C9C">
              <a:alpha val="3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EPTA Services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Continued Funding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2514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709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Shepherd University  ·  Ram Force One &amp; Ram Express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D1A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57200" y="4709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09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Ridership Data  ·  Student Survey (n=445)  ·  Enrollment Trends  ·  FY2011-12 through FY2025-26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 Today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51560" y="12801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Service Overview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51560" y="1645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What EPTA is and who it serves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37744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51560" y="24688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Ridership Trends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834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14 years of data — and a record-setting FY25-26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5720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51560" y="3657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Student Voice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40233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445 survey respondents speak for themselves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118872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846320" y="118872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4632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40680" y="12801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Enrollment &amp; Impact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40680" y="16459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Why ridership is rising as enrollment falls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46320" y="237744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846320" y="237744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46320" y="2606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440680" y="24688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Patron Stories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40680" y="28346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Photos and voices from the people who depend on EPTA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46320" y="3566160"/>
            <a:ext cx="41148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46320" y="3566160"/>
            <a:ext cx="502920" cy="100584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4632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06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440680" y="36576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</a:rPr>
              <a:t>The Ask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40680" y="40233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What continued funding means for students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Overview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routes. Five days a week. Free to all students.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Routes, One Mission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Free campus transit for all Shepherd University students, Monday–Friday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023360" cy="594360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Ram Force One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02920" y="17647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Campus circulator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C9C"/>
                </a:solidFill>
              </a:rPr>
              <a:t>🕐 Hours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600200" y="2103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7:30 AM – 9:20 PM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97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5C9C"/>
                </a:solidFill>
              </a:rPr>
              <a:t>📅 Days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00200" y="26974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Mon – Fri (AM &amp; PM service)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365760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3375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Connects West Campus residential halls, East Campus academic buildings, H-Lot, Rams Den, and Wellness Center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846320" y="1371600"/>
            <a:ext cx="402336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846320" y="1371600"/>
            <a:ext cx="4023360" cy="59436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83480" y="14173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Ram Express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983480" y="176479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</a:rPr>
              <a:t>Martinsburg connector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0" y="21031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🕐 Hours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80760" y="21031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Departs 6:50 AM &amp; 2:50 PM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0" y="2697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</a:rPr>
              <a:t>📅 Days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080760" y="26974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Mon – Thu (inbound); Mon – Fri (outbound)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0" y="3246120"/>
            <a:ext cx="3657600" cy="36576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29200" y="333756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</a:rPr>
              <a:t>Links Caperton Train Station in Martinsburg directly to campus — a vital link for commuters without cars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E8F0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A5C9C"/>
                </a:solidFill>
              </a:rPr>
              <a:t>📷  INSERT PHOTO: Bus in service / route map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Ridership Trends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years of data — and a record-setting FY2025-26.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</a:rPr>
              <a:t>Ridership Has Never Been Higher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Annual ridership, FY2011-12 through FY2025-26  (FY12-13 excluded — data anomaly)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051560"/>
          <a:ext cx="8412480" cy="3566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</a:rPr>
              <a:t>* FY25-26 partial year through May — already +19% above full FY24-25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</a:rPr>
              <a:t>FY2025-26: A Record Year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20040" y="1005840"/>
            <a:ext cx="19659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1965960" cy="64008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1704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A5C9C"/>
                </a:solidFill>
              </a:rPr>
              <a:t>37,173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29768" y="182880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Riders to date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21031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Aug 2025 – May 2026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68880" y="1005840"/>
            <a:ext cx="19659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468880" y="1005840"/>
            <a:ext cx="1965960" cy="6400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468880" y="11704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D9E75"/>
                </a:solidFill>
              </a:rPr>
              <a:t>+19%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2578608" y="182880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Growth vs FY24-25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21031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31,306 full-year prior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17720" y="1005840"/>
            <a:ext cx="19659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617720" y="1005840"/>
            <a:ext cx="1965960" cy="6400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617720" y="11704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D85A30"/>
                </a:solidFill>
              </a:rPr>
              <a:t>6,501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727448" y="182880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February 2026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09160" y="21031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Highest single month ever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766560" y="1005840"/>
            <a:ext cx="196596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66560" y="1005840"/>
            <a:ext cx="1965960" cy="64008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766560" y="117043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BA7517"/>
                </a:solidFill>
              </a:rPr>
              <a:t>12.1+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876288" y="182880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Riders per 100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0" y="210312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Students enrolled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4155"/>
                </a:solidFill>
              </a:rPr>
              <a:t>Every month in FY25-26 exceeded the same month last year</a:t>
            </a:r>
            <a:endParaRPr lang="en-US" sz="13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365760" y="3017520"/>
          <a:ext cx="841248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</a:rPr>
              <a:t>Service Demand Across All Three Routes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Monthly ridership by route — FY2024-25 (Aug–Feb, full data)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097280"/>
          <a:ext cx="84124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</a:rPr>
              <a:t>Ram Force One AM carries the majority of riders — but all three routes show consistent demand throughout the semester.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Voice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445 students surveyed — Feb 17 through Mar 5, 2025.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</a:rPr>
              <a:t>Students Depend on EPTA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Student survey, n=445  ·  60% residential, 39% commuter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659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1965960" cy="64008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0759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A5C9C"/>
                </a:solidFill>
              </a:rPr>
              <a:t>57%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29768" y="196596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Ride daily or more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11480" y="22402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Multiple times/day + daily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68880" y="1143000"/>
            <a:ext cx="19659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468880" y="1143000"/>
            <a:ext cx="1965960" cy="6400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468880" y="130759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D9E75"/>
                </a:solidFill>
              </a:rPr>
              <a:t>75%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2578608" y="196596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"Extremely important"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22402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Q6: importance of campus bus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143000"/>
            <a:ext cx="19659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617720" y="1143000"/>
            <a:ext cx="1965960" cy="64008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17720" y="130759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A5C9C"/>
                </a:solidFill>
              </a:rPr>
              <a:t>93%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4727448" y="196596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Satisfied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09160" y="22402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Q12: agree + strongly agree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66560" y="1143000"/>
            <a:ext cx="196596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766560" y="1143000"/>
            <a:ext cx="1965960" cy="6400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766560" y="1307592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D9E75"/>
                </a:solidFill>
              </a:rPr>
              <a:t>94%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6876288" y="1965960"/>
            <a:ext cx="17465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Sufficient stops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858000" y="2240280"/>
            <a:ext cx="1783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Q9: routes meet their needs</a:t>
            </a:r>
            <a:endParaRPr lang="en-US" sz="1000" dirty="0"/>
          </a:p>
        </p:txBody>
      </p:sp>
      <p:graphicFrame>
        <p:nvGraphicFramePr>
          <p:cNvPr id="24" name="Chart 0"/>
          <p:cNvGraphicFramePr/>
          <p:nvPr/>
        </p:nvGraphicFramePr>
        <p:xfrm>
          <a:off x="365760" y="2834640"/>
          <a:ext cx="841248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594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</a:rPr>
              <a:t>Why Students Ride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Q3: Reasons for using EPTA (% of 360 active riders, multi-select)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097280"/>
          <a:ext cx="5303520" cy="3749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097280"/>
            <a:ext cx="2926080" cy="1645920"/>
          </a:xfrm>
          <a:prstGeom prst="rect">
            <a:avLst/>
          </a:prstGeom>
          <a:solidFill>
            <a:srgbClr val="1A5C9C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943600" y="123444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56%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6035040" y="18745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A0C8F0"/>
                </a:solidFill>
              </a:rPr>
              <a:t>cite parking difficulties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A0C8F0"/>
                </a:solidFill>
              </a:rPr>
              <a:t>as a reason to ride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943600" y="2880360"/>
            <a:ext cx="2926080" cy="1645920"/>
          </a:xfrm>
          <a:prstGeom prst="rect">
            <a:avLst/>
          </a:prstGeom>
          <a:solidFill>
            <a:srgbClr val="D85A3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943600" y="30175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18%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035040" y="36576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AC0A8"/>
                </a:solidFill>
              </a:rPr>
              <a:t>ride for accessibility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FAC0A8"/>
                </a:solidFill>
              </a:rPr>
              <a:t>or disability reasons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4617720"/>
            <a:ext cx="2926080" cy="457200"/>
          </a:xfrm>
          <a:prstGeom prst="rect">
            <a:avLst/>
          </a:prstGeom>
          <a:solidFill>
            <a:srgbClr val="E8F0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943600" y="466344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A5C9C"/>
                </a:solidFill>
              </a:rPr>
              <a:t>📷  INSERT PHOTO: Student boarding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</a:rPr>
              <a:t>When Service Matters Most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36576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Q7: Critical time slots (multi-select, n=420)</a:t>
            </a:r>
            <a:endParaRPr lang="en-US" sz="12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1097280"/>
          <a:ext cx="502920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5669280" y="8229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</a:rPr>
              <a:t>Q8: Would support a small fee to maintain service?</a:t>
            </a:r>
            <a:endParaRPr lang="en-US" sz="1200" dirty="0"/>
          </a:p>
        </p:txBody>
      </p:sp>
      <p:graphicFrame>
        <p:nvGraphicFramePr>
          <p:cNvPr id="6" name="Chart 1"/>
          <p:cNvGraphicFramePr/>
          <p:nvPr/>
        </p:nvGraphicFramePr>
        <p:xfrm>
          <a:off x="5486400" y="1143000"/>
          <a:ext cx="347472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Shape 3"/>
          <p:cNvSpPr/>
          <p:nvPr/>
        </p:nvSpPr>
        <p:spPr>
          <a:xfrm>
            <a:off x="5486400" y="3886200"/>
            <a:ext cx="3474720" cy="1097280"/>
          </a:xfrm>
          <a:prstGeom prst="rect">
            <a:avLst/>
          </a:prstGeom>
          <a:solidFill>
            <a:srgbClr val="E8F0F9"/>
          </a:solidFill>
          <a:ln w="6350">
            <a:solidFill>
              <a:srgbClr val="C8D8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5623560" y="397764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34155"/>
                </a:solidFill>
              </a:rPr>
              <a:t>Note: Many students oppose a fee not because they lack support for the service, but because they already pay a $70 parking pass that doesn't work across campus.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365760" y="4114800"/>
            <a:ext cx="4754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5C9C"/>
                </a:solidFill>
              </a:rPr>
              <a:t>87% rate service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A5C9C"/>
                </a:solidFill>
              </a:rPr>
              <a:t>extr. or very important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7094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Their Own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&amp; Disability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54864" cy="96012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"If the EPTA were not available I would not be able to attend classes. I am disabled and cannot walk across campus and cannot drive so I rely on the bus as transit to classes, work, and food."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606040"/>
            <a:ext cx="54864" cy="96012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"As a student who has POTS the EPTA makes it easier for me to get from one side to another without worry of an episode — walking is very hard and can be dangerous for my condition."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70332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3703320"/>
            <a:ext cx="54864" cy="960120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"The elimination of the EPTA services would be discriminatory to those with disabilities who cannot easily transport themselves across campus."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0" y="1463040"/>
            <a:ext cx="2011680" cy="3383280"/>
          </a:xfrm>
          <a:prstGeom prst="rect">
            <a:avLst/>
          </a:prstGeom>
          <a:solidFill>
            <a:srgbClr val="0D1A2D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0" y="219456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📷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INSERT PHOTO: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Student with mobility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aid using EPTA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754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6A8A"/>
                </a:solidFill>
              </a:rPr>
              <a:t>178 students left written comments  ·  47 volunteered for a focus group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7094B5"/>
                </a:solidFill>
              </a:rPr>
              <a:t>In Their Own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Safety &amp; Weather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54864" cy="960120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"Disabled and injured students are owed transportation across campus. As a woman who takes classes that end at 7pm and 9pm, I do not feel safe walking back to my campus apartment alone in the dark."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606040"/>
            <a:ext cx="54864" cy="960120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"Walking to class in freezing temperatures at 8am is really hard… sometimes the only reason I have the motivation to go to my earliest classes is because I know there is a bus."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70332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3703320"/>
            <a:ext cx="54864" cy="960120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"I am a commuter who had a car accident when roads were icy on the way to campus. The EPTA shuttle has allowed me to continue to attend Shepherd despite losing my car."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0" y="1463040"/>
            <a:ext cx="2011680" cy="3383280"/>
          </a:xfrm>
          <a:prstGeom prst="rect">
            <a:avLst/>
          </a:prstGeom>
          <a:solidFill>
            <a:srgbClr val="0D1A2D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0" y="219456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📷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INSERT PHOTO: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Bus in winter /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students in cold weather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kern="0" spc="300" dirty="0">
                <a:solidFill>
                  <a:srgbClr val="7094B5"/>
                </a:solidFill>
              </a:rPr>
              <a:t>In Their Own Words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365760" y="7315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Parking &amp; Residential Access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50876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54864" cy="96012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"As a residential student, we have nowhere to park. When it's really cold or there's a time crunch, I need the bus to get across campus from West Woods."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60604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65760" y="2606040"/>
            <a:ext cx="54864" cy="96012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"EPTA is one of my favorite things about SU. It makes navigating campus so much easier for students, especially the not insignificant number with disabilities, and is a crucial part of Shepherd's parking strategy."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3703320"/>
            <a:ext cx="6217920" cy="960120"/>
          </a:xfrm>
          <a:prstGeom prst="rect">
            <a:avLst/>
          </a:prstGeom>
          <a:solidFill>
            <a:srgbClr val="0D1A2D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3703320"/>
            <a:ext cx="54864" cy="96012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48640" y="37490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C8D8E8"/>
                </a:solidFill>
              </a:rPr>
              <a:t>"Every student is furious about reductions/cuts to EPTA and feels it's punitive. If programs and services continue to be cut, enrollment will keep declining as SU becomes less attractive and competitive."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0" y="1463040"/>
            <a:ext cx="2011680" cy="3383280"/>
          </a:xfrm>
          <a:prstGeom prst="rect">
            <a:avLst/>
          </a:prstGeom>
          <a:solidFill>
            <a:srgbClr val="0D1A2D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858000" y="2194560"/>
            <a:ext cx="201168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📷</a:t>
            </a:r>
            <a:endParaRPr lang="en-US" sz="1100" dirty="0"/>
          </a:p>
          <a:p>
            <a:pPr marL="0" indent="0" algn="ctr">
              <a:buNone/>
            </a:pP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INSERT PHOTO: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H-Lot / parking area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or residential halls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&amp; Impact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Ridership growing as enrollment falls — a vital safety net.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A2342"/>
                </a:solidFill>
              </a:rPr>
              <a:t>More Essential Per Student Than Ever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</a:rPr>
              <a:t>Fall enrollment has fallen 30% since 2011 — yet ridership has grown. Students rely on EPTA more, not less.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365760" y="1097280"/>
          <a:ext cx="841248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320040" y="4114800"/>
            <a:ext cx="26517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20040" y="4114800"/>
            <a:ext cx="2651760" cy="64008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320040" y="427939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D85A30"/>
                </a:solidFill>
              </a:rPr>
              <a:t>-30%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429768" y="4937760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Enrollment decline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11480" y="52120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4,393 (2011) → 3,069 (2025)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4114800"/>
            <a:ext cx="26517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46120" y="4114800"/>
            <a:ext cx="2651760" cy="64008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3246120" y="427939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1D9E75"/>
                </a:solidFill>
              </a:rPr>
              <a:t>+163%</a:t>
            </a:r>
            <a:endParaRPr lang="en-US" sz="3800" dirty="0"/>
          </a:p>
        </p:txBody>
      </p:sp>
      <p:sp>
        <p:nvSpPr>
          <p:cNvPr id="13" name="Text 10"/>
          <p:cNvSpPr/>
          <p:nvPr/>
        </p:nvSpPr>
        <p:spPr>
          <a:xfrm>
            <a:off x="3355848" y="4937760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Ridership per student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3337560" y="52120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4.6 (FY11) → 12.1+ (FY26)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172200" y="4114800"/>
            <a:ext cx="265176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172200" y="4114800"/>
            <a:ext cx="2651760" cy="64008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172200" y="4279392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BA7517"/>
                </a:solidFill>
              </a:rPr>
              <a:t>3,069</a:t>
            </a:r>
            <a:endParaRPr lang="en-US" sz="3800" dirty="0"/>
          </a:p>
        </p:txBody>
      </p:sp>
      <p:sp>
        <p:nvSpPr>
          <p:cNvPr id="18" name="Text 15"/>
          <p:cNvSpPr/>
          <p:nvPr/>
        </p:nvSpPr>
        <p:spPr>
          <a:xfrm>
            <a:off x="6281928" y="4937760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34155"/>
                </a:solidFill>
              </a:rPr>
              <a:t>Students enrolled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263640" y="521208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</a:rPr>
              <a:t>Fall 2025 — lowest in 14 years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3A86C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The People Behind the Numbers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365760" y="2606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BDD8"/>
                </a:solidFill>
              </a:rPr>
              <a:t>Drivers, patrons, and the daily moments that make EPTA essential.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" y="137160"/>
            <a:ext cx="4343400" cy="2423160"/>
          </a:xfrm>
          <a:prstGeom prst="rect">
            <a:avLst/>
          </a:prstGeom>
          <a:solidFill>
            <a:srgbClr val="0D1A2D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74320" y="1143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📷  Bus patrons — peak morning boarding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663440" y="137160"/>
            <a:ext cx="4343400" cy="2423160"/>
          </a:xfrm>
          <a:prstGeom prst="rect">
            <a:avLst/>
          </a:prstGeom>
          <a:solidFill>
            <a:srgbClr val="0D1A2D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800600" y="1143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📷  Driver at wheel — Ram Force One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37160" y="2743200"/>
            <a:ext cx="4343400" cy="2423160"/>
          </a:xfrm>
          <a:prstGeom prst="rect">
            <a:avLst/>
          </a:prstGeom>
          <a:solidFill>
            <a:srgbClr val="0D1A2D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37490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📷  H-Lot / parking — commuter overflow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2743200"/>
            <a:ext cx="4343400" cy="2423160"/>
          </a:xfrm>
          <a:prstGeom prst="rect">
            <a:avLst/>
          </a:prstGeom>
          <a:solidFill>
            <a:srgbClr val="0D1A2D"/>
          </a:solidFill>
          <a:ln w="12700">
            <a:solidFill>
              <a:srgbClr val="2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00600" y="37490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4A6A8A"/>
                </a:solidFill>
              </a:rPr>
              <a:t>📷  Students in cold / winter conditions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0BD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continued funding means for Shepherd students.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</a:rPr>
              <a:t>What Continued Funding Protects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73152" cy="713232"/>
          </a:xfrm>
          <a:prstGeom prst="rect">
            <a:avLst/>
          </a:prstGeom>
          <a:solidFill>
            <a:srgbClr val="D85A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66928" y="107899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85A30"/>
                </a:solidFill>
              </a:rPr>
              <a:t>Accessibility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353312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Students with disabilities, POTS, chronic conditions, and temporary injuries depend on EPTA as their primary way to reach class, dining, and work.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801368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1801368"/>
            <a:ext cx="73152" cy="713232"/>
          </a:xfrm>
          <a:prstGeom prst="rect">
            <a:avLst/>
          </a:prstGeom>
          <a:solidFill>
            <a:srgbClr val="1A5C9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1874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5C9C"/>
                </a:solidFill>
              </a:rPr>
              <a:t>Student Safety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" y="2148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The 7pm–9pm window carries 110 students who don't feel safe walking alone in the dark — especially women with late-night classes.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2596896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596896"/>
            <a:ext cx="73152" cy="713232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26700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9E75"/>
                </a:solidFill>
              </a:rPr>
              <a:t>Parking Relief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6928" y="294436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56% of riders cite parking as a primary reason. Eliminating EPTA shifts that burden back to an already strained parking infrastructure.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3392424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65760" y="3392424"/>
            <a:ext cx="73152" cy="713232"/>
          </a:xfrm>
          <a:prstGeom prst="rect">
            <a:avLst/>
          </a:prstGeom>
          <a:solidFill>
            <a:srgbClr val="BA751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" y="346557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A7517"/>
                </a:solidFill>
              </a:rPr>
              <a:t>Enrollment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66928" y="3739896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Students explicitly link EPTA to their decision to stay at Shepherd. Cuts signal disinvestment in student services at a critical enrollment moment.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4187952"/>
            <a:ext cx="841248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5760" y="4187952"/>
            <a:ext cx="73152" cy="713232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" y="42611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</a:rPr>
              <a:t>Martinsburg Link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66928" y="453542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5"/>
                </a:solidFill>
              </a:rPr>
              <a:t>Ram Force One connects students without cars from Martinsburg — removing it cuts off transit-dependent commuters with no alternative.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0D1A2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65760" y="640080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data is clear.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5577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A86C8"/>
                </a:solidFill>
              </a:rPr>
              <a:t>The students have spoken.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5577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0BDD8"/>
                </a:solidFill>
              </a:rPr>
              <a:t>EPTA is not a convenience — it's infrastructure.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5577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37,173 riders in FY25-26 and growing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Record ridership despite falling enrollment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75% of students call it extremely important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93% report satisfaction with service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C8D8E8"/>
                </a:solidFill>
              </a:rPr>
              <a:t>Critical for disability access, safety &amp; parking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263640" y="109728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4A6A8A"/>
                </a:solidFill>
              </a:rPr>
              <a:t>📷</a:t>
            </a:r>
            <a:endParaRPr lang="en-US" sz="1200" dirty="0"/>
          </a:p>
          <a:p>
            <a:pPr marL="0" indent="0" algn="ctr">
              <a:buNone/>
            </a:pP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4A6A8A"/>
                </a:solidFill>
              </a:rPr>
              <a:t>INSERT PHOTO: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4A6A8A"/>
                </a:solidFill>
              </a:rPr>
              <a:t>Bus + students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i="1" dirty="0">
                <a:solidFill>
                  <a:srgbClr val="4A6A8A"/>
                </a:solidFill>
              </a:rPr>
              <a:t>key image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15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4718304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6A8A"/>
                </a:solidFill>
              </a:rPr>
              <a:t>Questions?  ·  EPTA Services 2025  ·  Shepherd University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1303</Words>
  <Application>Microsoft Office PowerPoint</Application>
  <PresentationFormat>On-screen Show (16:9)</PresentationFormat>
  <Paragraphs>196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EPTA Services — Funding Case 2025</dc:title>
  <dc:subject>PptxGenJS Presentation</dc:subject>
  <dc:creator>Shepherd University / EPTA</dc:creator>
  <cp:lastModifiedBy>John D Meeker</cp:lastModifiedBy>
  <cp:revision>1</cp:revision>
  <dcterms:created xsi:type="dcterms:W3CDTF">2026-05-12T15:23:02Z</dcterms:created>
  <dcterms:modified xsi:type="dcterms:W3CDTF">2026-05-12T15:42:18Z</dcterms:modified>
</cp:coreProperties>
</file>